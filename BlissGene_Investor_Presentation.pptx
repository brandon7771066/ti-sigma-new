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00D9FF"/>
                </a:solidFill>
              </a:defRPr>
            </a:pPr>
            <a:r>
              <a:t>BlissGene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2004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94560"/>
                </a:solidFill>
              </a:defRPr>
            </a:pPr>
            <a:r>
              <a:t>THERAPEUTICS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Eliminating Human Suffering Through Precision Gene Therapy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0292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69696"/>
                </a:solidFill>
              </a:defRPr>
            </a:pPr>
            <a:r>
              <a:t>Investor Presentation | December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69696"/>
                </a:solidFill>
              </a:defRPr>
            </a:pPr>
            <a:r>
              <a:t>blissgene.org | info@blissgene.org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D9FF"/>
                </a:solidFill>
              </a:defRPr>
            </a:pPr>
            <a:r>
              <a:t>THE INSPIRATION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D9FF"/>
                </a:solidFill>
              </a:defRPr>
            </a:pPr>
            <a:r>
              <a:t>"Imagine a life where you felt minimal pain, anxiety, or fear."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This is the reality for Jo Cameron, a Scottish woman whose unique genetics highlights our unprecedented therapeutic strategy.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00D9FF"/>
                </a:solidFill>
              </a:defRPr>
            </a:pPr>
            <a:r>
              <a:t>76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931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69696"/>
                </a:solidFill>
              </a:defRPr>
            </a:pPr>
            <a:r>
              <a:t>Years pain-free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2004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00D9FF"/>
                </a:solidFill>
              </a:defRPr>
            </a:pPr>
            <a: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3931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69696"/>
                </a:solidFill>
              </a:defRPr>
            </a:pPr>
            <a:r>
              <a:t>Painkillers ever needed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32004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00D9FF"/>
                </a:solidFill>
              </a:defRPr>
            </a:pPr>
            <a:r>
              <a:t>2x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3931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69696"/>
                </a:solidFill>
              </a:defRPr>
            </a:pPr>
            <a:r>
              <a:t>Normal anandamide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69696"/>
                </a:solidFill>
              </a:defRPr>
            </a:pPr>
            <a:r>
              <a:t>Burns, broken bones, surgeries - all without anesthesia or pain medication.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D9FF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94560"/>
                </a:solidFill>
              </a:defRPr>
            </a:pPr>
            <a:r>
              <a:t>Massive Unmet Need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50+ million Americans suffer from chronic pain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40 million Americans have anxiety disorders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17.3 million have Major Depressive Disorder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41% of population affected by at least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94560"/>
                </a:solidFill>
              </a:defRPr>
            </a:pPr>
            <a:r>
              <a:t>Current Treatments Fail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Trial-and-error medication approaches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Opioid crisis with addiction risk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Significant side effects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Limited efficacy for many patients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No treatments targeting root cause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5029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9FF"/>
                </a:solidFill>
              </a:defRPr>
            </a:pPr>
            <a:r>
              <a:t>$500B+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5669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69696"/>
                </a:solidFill>
              </a:defRPr>
            </a:pPr>
            <a:r>
              <a:t>US chronic pain market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D9FF"/>
                </a:solidFill>
              </a:defRPr>
            </a:pPr>
            <a:r>
              <a:t>THE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94560"/>
                </a:solidFill>
              </a:defRPr>
            </a:pPr>
            <a:r>
              <a:t>2023 Breakthrough: UCL Study Published in Brain Journal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9FF"/>
                </a:solidFill>
              </a:defRPr>
            </a:pPr>
            <a:r>
              <a:t>The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FAAH enzyme breaks down endocannabinoids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FAAH-OUT is a lncRNA regulating FAAH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Jo Cameron has 8.1 kb microdeletion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Reduced FAAH = elevated anandamide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9FF"/>
                </a:solidFill>
              </a:defRPr>
            </a:pPr>
            <a:r>
              <a:t>Why FAAH-OUT?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2860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FAAH inhibitors failed clinical trials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FAAH-OUT is human-validated target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Affects 1,145 genes comprehensively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Includes WNT16 (healing) &amp; BDNF (mood)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69696"/>
                </a:solidFill>
              </a:defRPr>
            </a:pPr>
            <a:r>
              <a:t>"Our findings validate FAAH-OUT regulation of FAAH as a new route to develop pain treatments."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69696"/>
                </a:solidFill>
              </a:defRPr>
            </a:pPr>
            <a:r>
              <a:t>- Mikaeili et al., Brain, 2023 (DOI: 10.1093/brain/awad098)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D9FF"/>
                </a:solidFill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94560"/>
                </a:solidFill>
              </a:defRPr>
            </a:pPr>
            <a:r>
              <a:t>Targeted FAAH-OUT Knockdown Therapy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9FF"/>
                </a:solidFill>
              </a:defRPr>
            </a:pPr>
            <a:r>
              <a:t>siRNA Therapy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Temporary knockdown</a:t>
            </a:r>
            <a:br/>
            <a:r>
              <a:t>Weeks to months (reversible)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9FF"/>
                </a:solidFill>
              </a:defRPr>
            </a:pPr>
            <a:r>
              <a:t>CRISPR-Cas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4688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Permanent deletion</a:t>
            </a:r>
            <a:br/>
            <a:r>
              <a:t>Mimics Jo Cameron's mutation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9FF"/>
                </a:solidFill>
              </a:defRPr>
            </a:pPr>
            <a:r>
              <a:t>LNP Delivery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4688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Crosses blood-brain barrier</a:t>
            </a:r>
            <a:br/>
            <a:r>
              <a:t>Proven mRNA vaccine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94560"/>
                </a:solidFill>
              </a:defRPr>
            </a:pPr>
            <a:r>
              <a:t>UNIQUE ADVANTAGE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Patients can try temporary therapy first before committing to permanent CRISPR - unprecedented patient choice!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D9FF"/>
                </a:solidFill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9FF"/>
                </a:solidFill>
              </a:defRPr>
            </a:pPr>
            <a:r>
              <a:t>$350B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94560"/>
                </a:solidFill>
              </a:defRPr>
            </a:pPr>
            <a:r>
              <a:t>TAM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69696"/>
                </a:solidFill>
              </a:defRPr>
            </a:pPr>
            <a:r>
              <a:t>Pain + Anxiety + MDD</a:t>
            </a:r>
            <a:br/>
            <a:r>
              <a:t>67M patients @ $3-5k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8288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9FF"/>
                </a:solidFill>
              </a:defRPr>
            </a:pPr>
            <a:r>
              <a:t>$250B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94560"/>
                </a:solidFill>
              </a:defRPr>
            </a:pPr>
            <a:r>
              <a:t>SAM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9260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69696"/>
                </a:solidFill>
              </a:defRPr>
            </a:pPr>
            <a:r>
              <a:t>Chronic Pain Only</a:t>
            </a:r>
            <a:br/>
            <a:r>
              <a:t>50M patients @ $5k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8288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9FF"/>
                </a:solidFill>
              </a:defRPr>
            </a:pPr>
            <a:r>
              <a:t>$50B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94560"/>
                </a:solidFill>
              </a:defRPr>
            </a:pPr>
            <a:r>
              <a:t>SOM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9260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69696"/>
                </a:solidFill>
              </a:defRPr>
            </a:pPr>
            <a:r>
              <a:t>Neuropathic Pain</a:t>
            </a:r>
            <a:br/>
            <a:r>
              <a:t>10M patients @ $5k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94560"/>
                </a:solidFill>
              </a:defRPr>
            </a:pPr>
            <a:r>
              <a:t>Competitive Landscape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No other company is targeting FAAH-OUT specifically with both temporary and permanent solutions.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Opioids/NSAIDs - addictive, side effects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FAAH inhibitors - failed trials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RNA therapeutics - not targeting this pathway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D9FF"/>
                </a:solidFill>
              </a:defRPr>
            </a:pPr>
            <a:r>
              <a:t>LEADERSHIP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9FF"/>
                </a:solidFill>
              </a:defRPr>
            </a:pPr>
            <a:r>
              <a:t>Brandon Emerick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94560"/>
                </a:solidFill>
              </a:defRPr>
            </a:pPr>
            <a:r>
              <a:t>CEO &amp; Founder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69696"/>
                </a:solidFill>
              </a:defRPr>
            </a:pPr>
            <a:r>
              <a:t>Cognitive Science &amp;</a:t>
            </a:r>
            <a:br/>
            <a:r>
              <a:t>Business Administration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9FF"/>
                </a:solidFill>
              </a:defRPr>
            </a:pPr>
            <a:r>
              <a:t>Qurrat Ain, PhD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286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94560"/>
                </a:solidFill>
              </a:defRPr>
            </a:pPr>
            <a:r>
              <a:t>COO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651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69696"/>
                </a:solidFill>
              </a:defRPr>
            </a:pPr>
            <a:r>
              <a:t>Research Leadership</a:t>
            </a:r>
            <a:br/>
            <a:r>
              <a:t>&amp;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9FF"/>
                </a:solidFill>
              </a:defRPr>
            </a:pPr>
            <a:r>
              <a:t>Valerio Embrione, PhD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286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94560"/>
                </a:solidFill>
              </a:defRPr>
            </a:pPr>
            <a:r>
              <a:t>VP &amp; Chief Scientific Officer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651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69696"/>
                </a:solidFill>
              </a:defRPr>
            </a:pPr>
            <a:r>
              <a:t>Scientific Strategy</a:t>
            </a:r>
            <a:br/>
            <a:r>
              <a:t>&amp; Research Direction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94560"/>
                </a:solidFill>
              </a:defRPr>
            </a:pPr>
            <a:r>
              <a:t>Scientific Advisory 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89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Neena Pyzocha, PhD  |  Irfan Ullah, PhD  |  Zaki Ullah, PhD  |  Mayuri Bhattacharya (Marketing)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D9FF"/>
                </a:solidFill>
              </a:defRPr>
            </a:pPr>
            <a:r>
              <a:t>DEVELOPMENT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9FF"/>
                </a:solidFill>
              </a:defRPr>
            </a:pPr>
            <a:r>
              <a:t>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9FF"/>
                </a:solidFill>
              </a:defRPr>
            </a:pPr>
            <a:r>
              <a:t>July 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346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69696"/>
                </a:solidFill>
              </a:defRPr>
            </a:pPr>
            <a:r>
              <a:t>Incorporated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011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94560"/>
                </a:solidFill>
              </a:defRPr>
            </a:pPr>
            <a:r>
              <a:t>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4688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9FF"/>
                </a:solidFill>
              </a:defRPr>
            </a:pPr>
            <a:r>
              <a:t>Q1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8346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69696"/>
                </a:solidFill>
              </a:defRPr>
            </a:pPr>
            <a:r>
              <a:t>Seed Funding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94560"/>
                </a:solidFill>
              </a:defRPr>
            </a:pPr>
            <a:r>
              <a:t>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4688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9FF"/>
                </a:solidFill>
              </a:defRPr>
            </a:pPr>
            <a:r>
              <a:t>Q3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8346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69696"/>
                </a:solidFill>
              </a:defRPr>
            </a:pPr>
            <a:r>
              <a:t>Preclinical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11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94560"/>
                </a:solidFill>
              </a:defRPr>
            </a:pPr>
            <a:r>
              <a:t>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4688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9FF"/>
                </a:solidFill>
              </a:defRPr>
            </a:pPr>
            <a:r>
              <a:t>Q3 2027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8346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69696"/>
                </a:solidFill>
              </a:defRPr>
            </a:pPr>
            <a:r>
              <a:t>IND-Enabling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011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94560"/>
                </a:solidFill>
              </a:defRPr>
            </a:pPr>
            <a:r>
              <a:t>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24688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9FF"/>
                </a:solidFill>
              </a:defRPr>
            </a:pPr>
            <a:r>
              <a:t>Q3 2029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28346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69696"/>
                </a:solidFill>
              </a:defRPr>
            </a:pPr>
            <a:r>
              <a:t>IND Filing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2011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94560"/>
                </a:solidFill>
              </a:defRPr>
            </a:pPr>
            <a:r>
              <a:t>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24688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9FF"/>
                </a:solidFill>
              </a:defRPr>
            </a:pPr>
            <a:r>
              <a:t>Q3 2030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28346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69696"/>
                </a:solidFill>
              </a:defRPr>
            </a:pPr>
            <a:r>
              <a:t>Phase 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840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9FF"/>
                </a:solidFill>
              </a:defRPr>
            </a:pPr>
            <a:r>
              <a:t>Discovery &amp; Preclinical (2-3 years)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206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Target validation, siRNA/CRISPR optimization, in vitro/vivo studies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840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9FF"/>
                </a:solidFill>
              </a:defRPr>
            </a:pPr>
            <a:r>
              <a:t>IND-Enabling (1-2 years)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206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GLP toxicology, ADME studies, CMC development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840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9FF"/>
                </a:solidFill>
              </a:defRPr>
            </a:pPr>
            <a:r>
              <a:t>Clinical Preparation (1-2 years)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206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FDA submission, site selection, IRB approval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D9FF"/>
                </a:solidFill>
              </a:defRPr>
            </a:pPr>
            <a: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00D9FF"/>
                </a:solidFill>
              </a:defRPr>
            </a:pPr>
            <a:r>
              <a:t>$1,000,000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65176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94560"/>
                </a:solidFill>
              </a:defRPr>
            </a:pPr>
            <a:r>
              <a:t>Seed 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9FF"/>
                </a:solidFill>
              </a:defRPr>
            </a:pPr>
            <a:r>
              <a:t>Use of Funds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40% - Preclinical R&amp;D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25% - Team Expansion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15% - Equipment &amp; Lab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10% - IP &amp; Legal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10% -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657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9FF"/>
                </a:solidFill>
              </a:defRPr>
            </a:pPr>
            <a:r>
              <a:t>Exit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1148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Partnership or acquisition by major pharmaceutical company during clinical trials, following the RNA therapeutics playbook.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D9FF"/>
                </a:solidFill>
              </a:defRPr>
            </a:pPr>
            <a:r>
              <a:t>WHY NOW?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94560"/>
                </a:solidFill>
              </a:defRPr>
            </a:pPr>
            <a:r>
              <a:t>Scientific Timing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2023 breakthrough - UCL published mechanism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FAAH-OUT validated as therapeutic target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RNA/CRISPR delivery technology mature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Non-human primate models available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94560"/>
                </a:solidFill>
              </a:defRPr>
            </a:pPr>
            <a:r>
              <a:t>Market Timing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Opioid crisis creates urgent need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RNA therapeutics gaining FDA acceptance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No competitors targeting FAAH-OUT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First-mover advantage available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D9FF"/>
                </a:solidFill>
              </a:defRPr>
            </a:pPr>
            <a:r>
              <a:t>"With an investment of just $1 million and a few minor changes to our genome, we can become a pain-free and happy species."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5120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69696"/>
                </a:solidFill>
              </a:defRPr>
            </a:pPr>
            <a:r>
              <a:t>- Brandon Emerick, CEO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00D9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7432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94560"/>
                </a:solidFill>
              </a:defRPr>
            </a:pPr>
            <a:r>
              <a:t>Join Us in Eliminating Human Suffering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1148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Website: blissgene.org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720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Email: info@blissgene.org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0292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Phone: 860-483-1425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69696"/>
                </a:solidFill>
              </a:defRPr>
            </a:pPr>
            <a:r>
              <a:t>BlissGene Therapeutics | Incorporated July 19, 2024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